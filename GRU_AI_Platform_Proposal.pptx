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09728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Agentic AI: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31520" y="1737360"/>
            <a:ext cx="7680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Transforming GRU for the Next Decade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246888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Vision for AI-Powered Global Reconciliation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438912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 | Global Reconciliation Utility | February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Challenge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40080" y="1188720"/>
            <a:ext cx="2468880" cy="25603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150876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E3A5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4,000+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640080" y="214884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Reconciliation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Processes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429000" y="1188720"/>
            <a:ext cx="2468880" cy="25603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429000" y="150876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E3A5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500+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3429000" y="214884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Functions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217920" y="1188720"/>
            <a:ext cx="2468880" cy="25603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217920" y="150876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E3A5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2-12 Wks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6217920" y="214884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Build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Recon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0080" y="420624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Growing volumes, regulatory pressure, and talent constraints demand a fundamentally different approach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GRU Today: Team Landscape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40080" y="1188720"/>
            <a:ext cx="246888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132588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Team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169164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D948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~250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40080" y="205740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 &amp; delivery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429000" y="1188720"/>
            <a:ext cx="246888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429000" y="132588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Ops/Breaks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429000" y="169164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D948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150+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429000" y="205740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 identification &amp; resolution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17920" y="1188720"/>
            <a:ext cx="246888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217920" y="132588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 Support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217920" y="169164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D948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40-100+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6217920" y="205740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issues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371600" y="3108960"/>
            <a:ext cx="365760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1371600" y="32461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Analysts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371600" y="36118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D948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40+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1371600" y="397764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 &amp; stakeholder mgmt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029200" y="3108960"/>
            <a:ext cx="365760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029200" y="32461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Platform/Support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029200" y="36118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D948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50+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5029200" y="397764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ETL, RCM, Infra, Reporting, Regulatory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Technology Landscape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40080" y="1188720"/>
            <a:ext cx="2468880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77240" y="1325880"/>
            <a:ext cx="274320" cy="2743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73736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Platforms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205740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OneRec (5 modules)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SmartStream TLM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429000" y="1188720"/>
            <a:ext cx="2468880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566160" y="1325880"/>
            <a:ext cx="274320" cy="2743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9" name="Text 7"/>
          <p:cNvSpPr/>
          <p:nvPr/>
        </p:nvSpPr>
        <p:spPr>
          <a:xfrm>
            <a:off x="3429000" y="173736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Lifecycle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429000" y="205740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RecTrace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17920" y="1188720"/>
            <a:ext cx="2468880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355080" y="1325880"/>
            <a:ext cx="274320" cy="2743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3" name="Text 11"/>
          <p:cNvSpPr/>
          <p:nvPr/>
        </p:nvSpPr>
        <p:spPr>
          <a:xfrm>
            <a:off x="6217920" y="173736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217920" y="205740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RecViz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 / QlikView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40080" y="2926080"/>
            <a:ext cx="2468880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77240" y="3063240"/>
            <a:ext cx="274320" cy="2743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47472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Mgmt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40080" y="379476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ServiceNow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Jira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429000" y="2926080"/>
            <a:ext cx="2468880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566160" y="3063240"/>
            <a:ext cx="274320" cy="2743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1" name="Text 19"/>
          <p:cNvSpPr/>
          <p:nvPr/>
        </p:nvSpPr>
        <p:spPr>
          <a:xfrm>
            <a:off x="3429000" y="347472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Engineering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429000" y="379476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Talend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Vanguard (future)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217920" y="2926080"/>
            <a:ext cx="2468880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355080" y="3063240"/>
            <a:ext cx="274320" cy="2743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5" name="Text 23"/>
          <p:cNvSpPr/>
          <p:nvPr/>
        </p:nvSpPr>
        <p:spPr>
          <a:xfrm>
            <a:off x="6217920" y="347472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Sources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217920" y="379476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SFTP, Kafka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API, Manual Upload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Vision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AI Platform for All of GRU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1508760" y="2011680"/>
            <a:ext cx="640080" cy="640080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274320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Repetitive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333756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Eliminate manual,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rules-based work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023360" y="2011680"/>
            <a:ext cx="640080" cy="640080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8" name="Text 6"/>
          <p:cNvSpPr/>
          <p:nvPr/>
        </p:nvSpPr>
        <p:spPr>
          <a:xfrm>
            <a:off x="3429000" y="274320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Augment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Complex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429000" y="333756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Empower experts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AI insights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537960" y="2011680"/>
            <a:ext cx="640080" cy="640080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11" name="Text 9"/>
          <p:cNvSpPr/>
          <p:nvPr/>
        </p:nvSpPr>
        <p:spPr>
          <a:xfrm>
            <a:off x="5943600" y="274320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Continuously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943600" y="333756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from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interaction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Platform Architecture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40080" y="1097280"/>
            <a:ext cx="7863840" cy="3474720"/>
          </a:xfrm>
          <a:prstGeom prst="rect">
            <a:avLst/>
          </a:prstGeom>
          <a:solidFill>
            <a:srgbClr val="F0F4F8"/>
          </a:solidFill>
          <a:ln w="25400">
            <a:solidFill>
              <a:srgbClr val="0D9488"/>
            </a:solidFill>
            <a:prstDash val="dash"/>
          </a:ln>
        </p:spPr>
      </p:sp>
      <p:sp>
        <p:nvSpPr>
          <p:cNvPr id="4" name="Text 2"/>
          <p:cNvSpPr/>
          <p:nvPr/>
        </p:nvSpPr>
        <p:spPr>
          <a:xfrm>
            <a:off x="640080" y="256032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diagram: Architecture Overview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Excalidraw file: 01_architecture_overview.excalidraw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Specialized AI Agents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40080" y="1188720"/>
            <a:ext cx="2468880" cy="1554480"/>
          </a:xfrm>
          <a:prstGeom prst="roundRect">
            <a:avLst>
              <a:gd name="adj" fmla="val 7059"/>
            </a:avLst>
          </a:prstGeom>
          <a:solidFill>
            <a:srgbClr val="1E3A5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160020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Agent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196596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 &amp; recon creation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429000" y="1188720"/>
            <a:ext cx="2468880" cy="1554480"/>
          </a:xfrm>
          <a:prstGeom prst="roundRect">
            <a:avLst>
              <a:gd name="adj" fmla="val 7059"/>
            </a:avLst>
          </a:prstGeom>
          <a:solidFill>
            <a:srgbClr val="0D9488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429000" y="160020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Agent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429000" y="196596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 &amp; mapping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217920" y="1188720"/>
            <a:ext cx="2468880" cy="1554480"/>
          </a:xfrm>
          <a:prstGeom prst="roundRect">
            <a:avLst>
              <a:gd name="adj" fmla="val 7059"/>
            </a:avLst>
          </a:prstGeom>
          <a:solidFill>
            <a:srgbClr val="1E3A5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217920" y="160020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 Agent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217920" y="196596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diagnostics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" y="3017520"/>
            <a:ext cx="2468880" cy="1554480"/>
          </a:xfrm>
          <a:prstGeom prst="roundRect">
            <a:avLst>
              <a:gd name="adj" fmla="val 7059"/>
            </a:avLst>
          </a:prstGeom>
          <a:solidFill>
            <a:srgbClr val="0D9488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40080" y="342900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 Agent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40080" y="379476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 classification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429000" y="3017520"/>
            <a:ext cx="2468880" cy="1554480"/>
          </a:xfrm>
          <a:prstGeom prst="roundRect">
            <a:avLst>
              <a:gd name="adj" fmla="val 7059"/>
            </a:avLst>
          </a:prstGeom>
          <a:solidFill>
            <a:srgbClr val="1E3A5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429000" y="342900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Agent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429000" y="379476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adherence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217920" y="3017520"/>
            <a:ext cx="2468880" cy="1554480"/>
          </a:xfrm>
          <a:prstGeom prst="roundRect">
            <a:avLst>
              <a:gd name="adj" fmla="val 7059"/>
            </a:avLst>
          </a:prstGeom>
          <a:solidFill>
            <a:srgbClr val="0D9488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217920" y="342900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Agent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217920" y="379476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 &amp; reporting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How Agents Collaborate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40080" y="1097280"/>
            <a:ext cx="7863840" cy="3474720"/>
          </a:xfrm>
          <a:prstGeom prst="rect">
            <a:avLst/>
          </a:prstGeom>
          <a:solidFill>
            <a:srgbClr val="F0F4F8"/>
          </a:solidFill>
          <a:ln w="25400">
            <a:solidFill>
              <a:srgbClr val="0D9488"/>
            </a:solidFill>
            <a:prstDash val="dash"/>
          </a:ln>
        </p:spPr>
      </p:sp>
      <p:sp>
        <p:nvSpPr>
          <p:cNvPr id="4" name="Text 2"/>
          <p:cNvSpPr/>
          <p:nvPr/>
        </p:nvSpPr>
        <p:spPr>
          <a:xfrm>
            <a:off x="640080" y="256032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diagram: Agent Interaction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Excalidraw file: 02_agent_interaction.excalidraw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MCP Integration Layer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40080" y="1097280"/>
            <a:ext cx="7863840" cy="3474720"/>
          </a:xfrm>
          <a:prstGeom prst="rect">
            <a:avLst/>
          </a:prstGeom>
          <a:solidFill>
            <a:srgbClr val="F0F4F8"/>
          </a:solidFill>
          <a:ln w="25400">
            <a:solidFill>
              <a:srgbClr val="0D9488"/>
            </a:solidFill>
            <a:prstDash val="dash"/>
          </a:ln>
        </p:spPr>
      </p:sp>
      <p:sp>
        <p:nvSpPr>
          <p:cNvPr id="4" name="Text 2"/>
          <p:cNvSpPr/>
          <p:nvPr/>
        </p:nvSpPr>
        <p:spPr>
          <a:xfrm>
            <a:off x="640080" y="256032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diagram: MCP Integration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Excalidraw file: 03_mcp_integration.excalidraw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457200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tool gets a standardized MCP adapter. New tools plug in seamlessly.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End-to-End Data Flow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40080" y="1097280"/>
            <a:ext cx="7863840" cy="3474720"/>
          </a:xfrm>
          <a:prstGeom prst="rect">
            <a:avLst/>
          </a:prstGeom>
          <a:solidFill>
            <a:srgbClr val="F0F4F8"/>
          </a:solidFill>
          <a:ln w="25400">
            <a:solidFill>
              <a:srgbClr val="0D9488"/>
            </a:solidFill>
            <a:prstDash val="dash"/>
          </a:ln>
        </p:spPr>
      </p:sp>
      <p:sp>
        <p:nvSpPr>
          <p:cNvPr id="4" name="Text 2"/>
          <p:cNvSpPr/>
          <p:nvPr/>
        </p:nvSpPr>
        <p:spPr>
          <a:xfrm>
            <a:off x="640080" y="256032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diagram: Data Flow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Excalidraw file: 04_data_flow.excalidraw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Recon Build: Before &amp; After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40080" y="1097280"/>
            <a:ext cx="7863840" cy="2743200"/>
          </a:xfrm>
          <a:prstGeom prst="rect">
            <a:avLst/>
          </a:prstGeom>
          <a:solidFill>
            <a:srgbClr val="F0F4F8"/>
          </a:solidFill>
          <a:ln w="25400">
            <a:solidFill>
              <a:srgbClr val="0D9488"/>
            </a:solidFill>
            <a:prstDash val="dash"/>
          </a:ln>
        </p:spPr>
      </p:sp>
      <p:sp>
        <p:nvSpPr>
          <p:cNvPr id="4" name="Text 2"/>
          <p:cNvSpPr/>
          <p:nvPr/>
        </p:nvSpPr>
        <p:spPr>
          <a:xfrm>
            <a:off x="640080" y="219456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diagram: Before/After Build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Excalidraw file: 05_before_after_build.excalidraw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4114800"/>
            <a:ext cx="2743200" cy="640080"/>
          </a:xfrm>
          <a:prstGeom prst="roundRect">
            <a:avLst>
              <a:gd name="adj" fmla="val 14286"/>
            </a:avLst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411480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2-12 weeks → Hours | 10x+ faster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Break Mgmt: Before &amp; After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40080" y="1097280"/>
            <a:ext cx="7863840" cy="2743200"/>
          </a:xfrm>
          <a:prstGeom prst="rect">
            <a:avLst/>
          </a:prstGeom>
          <a:solidFill>
            <a:srgbClr val="F0F4F8"/>
          </a:solidFill>
          <a:ln w="25400">
            <a:solidFill>
              <a:srgbClr val="0D9488"/>
            </a:solidFill>
            <a:prstDash val="dash"/>
          </a:ln>
        </p:spPr>
      </p:sp>
      <p:sp>
        <p:nvSpPr>
          <p:cNvPr id="4" name="Text 2"/>
          <p:cNvSpPr/>
          <p:nvPr/>
        </p:nvSpPr>
        <p:spPr>
          <a:xfrm>
            <a:off x="640080" y="219456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diagram: Before/After Breaks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Excalidraw file: 06_before_after_breaks.excalidraw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4114800"/>
            <a:ext cx="3200400" cy="640080"/>
          </a:xfrm>
          <a:prstGeom prst="roundRect">
            <a:avLst>
              <a:gd name="adj" fmla="val 14286"/>
            </a:avLst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411480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70%+ faster resolution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Prod Support: Before &amp; After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40080" y="1188720"/>
            <a:ext cx="3749040" cy="3200400"/>
          </a:xfrm>
          <a:prstGeom prst="roundRect">
            <a:avLst>
              <a:gd name="adj" fmla="val 3429"/>
            </a:avLst>
          </a:prstGeom>
          <a:solidFill>
            <a:srgbClr val="FEF2F2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914400" y="182880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Job fails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14400" y="21488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PS analyst picks up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14400" y="246888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Checks multiple systems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278892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Follows runbook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14400" y="310896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Fixes or escalates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411480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40-100+ people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754880" y="1188720"/>
            <a:ext cx="3749040" cy="3200400"/>
          </a:xfrm>
          <a:prstGeom prst="roundRect">
            <a:avLst>
              <a:gd name="adj" fmla="val 3429"/>
            </a:avLst>
          </a:prstGeom>
          <a:solidFill>
            <a:srgbClr val="F0FDF4"/>
          </a:solidFill>
          <a:ln/>
        </p:spPr>
      </p:sp>
      <p:sp>
        <p:nvSpPr>
          <p:cNvPr id="12" name="Text 10"/>
          <p:cNvSpPr/>
          <p:nvPr/>
        </p:nvSpPr>
        <p:spPr>
          <a:xfrm>
            <a:off x="4754880" y="137160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5029200" y="182880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Job fails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029200" y="21488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PS Agent auto-diagnoses in seconds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029200" y="246888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Auto-remediates 40-70%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029200" y="278892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Full context for novel issues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029200" y="310896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Expert team handles edge cases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754880" y="411480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expert team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Secret Weapons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40080" y="1188720"/>
            <a:ext cx="3749040" cy="32004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188720"/>
            <a:ext cx="3749040" cy="41148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18872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Layer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17830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4000+ config patterns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14400" y="21488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Incident KB from ServiceNow/Jira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25146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Break playbooks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14400" y="288036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Passive learning from interactions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754880" y="1188720"/>
            <a:ext cx="3749040" cy="32004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/>
        </p:spPr>
      </p:sp>
      <p:sp>
        <p:nvSpPr>
          <p:cNvPr id="11" name="Shape 9"/>
          <p:cNvSpPr/>
          <p:nvPr/>
        </p:nvSpPr>
        <p:spPr>
          <a:xfrm>
            <a:off x="4754880" y="1188720"/>
            <a:ext cx="3749040" cy="4114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2" name="Text 10"/>
          <p:cNvSpPr/>
          <p:nvPr/>
        </p:nvSpPr>
        <p:spPr>
          <a:xfrm>
            <a:off x="4754880" y="118872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R2D2 Gateway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029200" y="17830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All LLM traffic secured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029200" y="21488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Data never leaves Citi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029200" y="25146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Claude + Gemini models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029200" y="288036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Centralized governance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Implementation Roadmap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40080" y="1097280"/>
            <a:ext cx="7863840" cy="3474720"/>
          </a:xfrm>
          <a:prstGeom prst="rect">
            <a:avLst/>
          </a:prstGeom>
          <a:solidFill>
            <a:srgbClr val="F0F4F8"/>
          </a:solidFill>
          <a:ln w="25400">
            <a:solidFill>
              <a:srgbClr val="0D9488"/>
            </a:solidFill>
            <a:prstDash val="dash"/>
          </a:ln>
        </p:spPr>
      </p:sp>
      <p:sp>
        <p:nvSpPr>
          <p:cNvPr id="4" name="Text 2"/>
          <p:cNvSpPr/>
          <p:nvPr/>
        </p:nvSpPr>
        <p:spPr>
          <a:xfrm>
            <a:off x="640080" y="256032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diagram: Roadmap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Excalidraw file: 07_roadmap.excalidraw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457200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Tangible wins every quarter. Full transformation in ~15 months.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Expected Impact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40080" y="1188720"/>
            <a:ext cx="3749040" cy="1554480"/>
          </a:xfrm>
          <a:prstGeom prst="roundRect">
            <a:avLst>
              <a:gd name="adj" fmla="val 7059"/>
            </a:avLst>
          </a:prstGeom>
          <a:solidFill>
            <a:srgbClr val="1E3A5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10x+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640080" y="182880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Recon Builds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219456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→ Hours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709160" y="1188720"/>
            <a:ext cx="3749040" cy="1554480"/>
          </a:xfrm>
          <a:prstGeom prst="roundRect">
            <a:avLst>
              <a:gd name="adj" fmla="val 7059"/>
            </a:avLst>
          </a:prstGeom>
          <a:solidFill>
            <a:srgbClr val="0D9488"/>
          </a:solidFill>
          <a:ln/>
        </p:spPr>
      </p:sp>
      <p:sp>
        <p:nvSpPr>
          <p:cNvPr id="8" name="Text 6"/>
          <p:cNvSpPr/>
          <p:nvPr/>
        </p:nvSpPr>
        <p:spPr>
          <a:xfrm>
            <a:off x="4709160" y="137160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70%+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4709160" y="182880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Break Resolution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709160" y="219456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Pre-Classification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" y="3017520"/>
            <a:ext cx="3749040" cy="1554480"/>
          </a:xfrm>
          <a:prstGeom prst="roundRect">
            <a:avLst>
              <a:gd name="adj" fmla="val 7059"/>
            </a:avLst>
          </a:prstGeom>
          <a:solidFill>
            <a:srgbClr val="0D9488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320040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50%+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640080" y="365760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MTTR Reduction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0080" y="402336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Auto-Diagnosis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709160" y="3017520"/>
            <a:ext cx="3749040" cy="1554480"/>
          </a:xfrm>
          <a:prstGeom prst="roundRect">
            <a:avLst>
              <a:gd name="adj" fmla="val 7059"/>
            </a:avLst>
          </a:prstGeom>
          <a:solidFill>
            <a:srgbClr val="1E3A5F"/>
          </a:solidFill>
          <a:ln/>
        </p:spPr>
      </p:sp>
      <p:sp>
        <p:nvSpPr>
          <p:cNvPr id="16" name="Text 14"/>
          <p:cNvSpPr/>
          <p:nvPr/>
        </p:nvSpPr>
        <p:spPr>
          <a:xfrm>
            <a:off x="4709160" y="320040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Scale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4709160" y="365760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Scaling Headcount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709160" y="402336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Absorbs Growth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40080" y="470916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Positions Citi as the industry leader in AI-driven reconciliation operations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Next Steps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777240" y="1371600"/>
            <a:ext cx="320040" cy="320040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4" name="Text 2"/>
          <p:cNvSpPr/>
          <p:nvPr/>
        </p:nvSpPr>
        <p:spPr>
          <a:xfrm>
            <a:off x="777240" y="13716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280160" y="1371600"/>
            <a:ext cx="7223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Phase 0 funding and team formation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" y="2011680"/>
            <a:ext cx="320040" cy="320040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20116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280160" y="2011680"/>
            <a:ext cx="7223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 RCM team to scope OneRec API requirements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77240" y="2651760"/>
            <a:ext cx="320040" cy="320040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26517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280160" y="2651760"/>
            <a:ext cx="7223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up Build Agent pilot program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77240" y="3291840"/>
            <a:ext cx="320040" cy="320040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32918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280160" y="3291840"/>
            <a:ext cx="7223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 success metrics and governance framework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57200" y="42062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future of reconciliation starts now.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2026-02-24T09:04:58Z</dcterms:created>
  <dcterms:modified xsi:type="dcterms:W3CDTF">2026-02-24T09:04:58Z</dcterms:modified>
</cp:coreProperties>
</file>